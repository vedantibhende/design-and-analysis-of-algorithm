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640080"/>
            <a:ext cx="2194560" cy="2194560"/>
          </a:xfrm>
          <a:prstGeom prst="ellipse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2331720"/>
            <a:ext cx="1417320" cy="1417320"/>
          </a:xfrm>
          <a:prstGeom prst="ellipse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001000" y="3520440"/>
            <a:ext cx="960120" cy="960120"/>
          </a:xfrm>
          <a:prstGeom prst="ellipse">
            <a:avLst/>
          </a:prstGeom>
          <a:solidFill>
            <a:srgbClr val="F2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6858000" cy="18745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JOB</a:t>
            </a:r>
          </a:p>
          <a:p>
            <a:pPr algn="l">
              <a:spcAft>
                <a:spcPts val="700"/>
              </a:spcAft>
              <a:defRPr sz="4300" b="1">
                <a:solidFill>
                  <a:srgbClr val="FFFFFF"/>
                </a:solidFill>
                <a:latin typeface="Aptos"/>
              </a:defRPr>
            </a:pPr>
            <a:r>
              <a:t>SEQUENCING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59"/>
            <a:ext cx="7132320" cy="2122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dirty="0"/>
              <a:t>Greedy Algorithm with a Worked Example</a:t>
            </a:r>
            <a:endParaRPr lang="en-IN" dirty="0"/>
          </a:p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lang="en-IN" dirty="0"/>
              <a:t>Name:- Vedanti Bhende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lang="en-IN" dirty="0"/>
              <a:t>PRN:- 25070521053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lang="en-IN" dirty="0"/>
              <a:t>Section:- A</a:t>
            </a:r>
          </a:p>
          <a:p>
            <a:pPr algn="l">
              <a:spcAft>
                <a:spcPts val="700"/>
              </a:spcAft>
              <a:defRPr sz="2100" b="0">
                <a:solidFill>
                  <a:srgbClr val="D7E1F2"/>
                </a:solidFill>
                <a:latin typeface="Aptos"/>
              </a:defRPr>
            </a:pPr>
            <a:r>
              <a:rPr lang="en-IN" dirty="0"/>
              <a:t>Faculty Name:- Dr. Parul Dubey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77240" y="5532120"/>
            <a:ext cx="6217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D7E1F2"/>
                </a:solidFill>
                <a:latin typeface="Aptos"/>
              </a:defRPr>
            </a:pPr>
            <a:r>
              <a:rPr dirty="0"/>
              <a:t>Design and Analysis of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D2DCF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What Is Job Sequencing?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18320" y="457200"/>
            <a:ext cx="20116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866C9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9274A"/>
                </a:solidFill>
                <a:latin typeface="Aptos"/>
              </a:defRPr>
            </a:pPr>
            <a:r>
              <a:t>Job sequencing with deadlines is a scheduling problem where we select and arrange jobs to obtain the maximum total profit.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3337560" cy="2148840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5528" y="2651760"/>
            <a:ext cx="64008" cy="187452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670048"/>
            <a:ext cx="2971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Deadline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08960"/>
            <a:ext cx="2971800" cy="1435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The latest time slot by which a job must be completed.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337560" cy="2148840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53127" y="2651760"/>
            <a:ext cx="64008" cy="187452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2670048"/>
            <a:ext cx="2971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108960"/>
            <a:ext cx="2971800" cy="1435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The reward earned if the job is completed on or before its deadline.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337560" cy="2148840"/>
          </a:xfrm>
          <a:prstGeom prst="roundRect">
            <a:avLst/>
          </a:prstGeom>
          <a:solidFill>
            <a:srgbClr val="FFF6DE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0727" y="2651760"/>
            <a:ext cx="64008" cy="1874520"/>
          </a:xfrm>
          <a:prstGeom prst="rect">
            <a:avLst/>
          </a:prstGeom>
          <a:solidFill>
            <a:srgbClr val="F2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670048"/>
            <a:ext cx="2971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Time slot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108960"/>
            <a:ext cx="2971800" cy="1435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72F3F"/>
                </a:solidFill>
                <a:latin typeface="Aptos"/>
              </a:defRPr>
            </a:pPr>
            <a:r>
              <a:t>In the basic problem, every job takes one unit of time and only one job fits in a slot.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104241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9E91"/>
                </a:solidFill>
                <a:latin typeface="Aptos"/>
              </a:defRPr>
            </a:pPr>
            <a:r>
              <a:t>Goal: choose a feasible set of jobs and schedule them to maximize total profit.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241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646F82"/>
                </a:solidFill>
                <a:latin typeface="Aptos"/>
              </a:defRPr>
            </a:pPr>
            <a:r>
              <a:t>Assumption for this presentation: each job takes one unit of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Problem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92240" cy="4297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Input: a set of jobs, each with a deadline and a profit.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Each job requires exactly one time slot.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A job earns its profit only if it is completed by its deadline.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Only one job can be scheduled in a time slot.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72F3F"/>
                </a:solidFill>
                <a:latin typeface="Aptos"/>
              </a:defRPr>
            </a:pPr>
            <a:r>
              <a:t>•  A job may be skipped if there is no suitable free slot.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45920"/>
            <a:ext cx="3474720" cy="1417320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44967" y="1783080"/>
            <a:ext cx="64008" cy="114300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27848" y="1801368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Example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240280"/>
            <a:ext cx="3108960" cy="7040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Job C: deadline = 2, profit = ₹27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337560"/>
            <a:ext cx="3474720" cy="1600200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44967" y="3474720"/>
            <a:ext cx="64008" cy="132588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7848" y="3493008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Feasible 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3931920"/>
            <a:ext cx="3108960" cy="8869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72F3F"/>
                </a:solidFill>
                <a:latin typeface="Aptos"/>
              </a:defRPr>
            </a:pPr>
            <a:r>
              <a:t>Job C can be placed in slot 1 or slot 2, as long as that slot is free.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1060704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The challenge is to maximize the sum of profits—not necessarily the number of jobs.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rPr dirty="0"/>
              <a:t>Greedy </a:t>
            </a:r>
            <a:r>
              <a:rPr lang="en-IN" dirty="0"/>
              <a:t>Algorithm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17320"/>
            <a:ext cx="621792" cy="621792"/>
          </a:xfrm>
          <a:prstGeom prst="ellipse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621792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1732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274A"/>
                </a:solidFill>
                <a:latin typeface="Aptos"/>
              </a:defRPr>
            </a:pPr>
            <a:r>
              <a:t>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429768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Sort jobs by decreasing profit.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417320"/>
            <a:ext cx="621792" cy="621792"/>
          </a:xfrm>
          <a:prstGeom prst="ellipse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90472"/>
            <a:ext cx="621792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41732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274A"/>
                </a:solidFill>
                <a:latin typeface="Aptos"/>
              </a:defRPr>
            </a:pPr>
            <a:r>
              <a:t>Create slots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20240"/>
            <a:ext cx="429768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Make slots from 1 up to the maximum deadline.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29000"/>
            <a:ext cx="621792" cy="621792"/>
          </a:xfrm>
          <a:prstGeom prst="ellipse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502152"/>
            <a:ext cx="621792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2900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274A"/>
                </a:solidFill>
                <a:latin typeface="Aptos"/>
              </a:defRPr>
            </a:pPr>
            <a:r>
              <a:t>Try latest slot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429768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For each job, search backward from its deadline.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3429000"/>
            <a:ext cx="621792" cy="621792"/>
          </a:xfrm>
          <a:prstGeom prst="ellipse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502152"/>
            <a:ext cx="621792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429000"/>
            <a:ext cx="4206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19274A"/>
                </a:solidFill>
                <a:latin typeface="Aptos"/>
              </a:defRPr>
            </a:pPr>
            <a:r>
              <a:t>Schedule or skip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931920"/>
            <a:ext cx="429768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Place it in the latest free valid slot; otherwise skip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69280"/>
            <a:ext cx="10698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646F82"/>
                </a:solidFill>
                <a:latin typeface="Aptos"/>
              </a:defRPr>
            </a:pPr>
            <a:r>
              <a:t>Why use the latest available slot? It preserves earlier slots for jobs with tighter deadlines.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Worked Example: Input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646F82"/>
                </a:solidFill>
                <a:latin typeface="Aptos"/>
              </a:defRPr>
            </a:pPr>
            <a:r>
              <a:t>Consider five jobs. Each takes one unit of time.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65960" y="182880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Job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Deadline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9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2057400"/>
            <a:ext cx="3017520" cy="2011680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19288" y="2194560"/>
            <a:ext cx="64008" cy="173736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02168" y="2212848"/>
            <a:ext cx="26517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Maximum deadline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2168" y="2651760"/>
            <a:ext cx="2651760" cy="12984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3 time slots are available: slot 1, slot 2 and slot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We will select and schedule jobs to earn the highest possible profit.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Step 1: Sort by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646F82"/>
                </a:solidFill>
                <a:latin typeface="Aptos"/>
              </a:defRPr>
            </a:pPr>
            <a:r>
              <a:t>Arrange the jobs from highest profit to lowest profit.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874519"/>
          <a:ext cx="7315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Job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Deadline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052560" y="2057400"/>
            <a:ext cx="2286000" cy="2194560"/>
          </a:xfrm>
          <a:prstGeom prst="roundRect">
            <a:avLst/>
          </a:prstGeom>
          <a:solidFill>
            <a:srgbClr val="FFF6DE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70848" y="2194560"/>
            <a:ext cx="64008" cy="1920240"/>
          </a:xfrm>
          <a:prstGeom prst="rect">
            <a:avLst/>
          </a:prstGeom>
          <a:solidFill>
            <a:srgbClr val="F2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53728" y="2212848"/>
            <a:ext cx="19202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2651760"/>
            <a:ext cx="1920240" cy="14813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Consider the most profitable remaining job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98755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199E91"/>
                </a:solidFill>
                <a:latin typeface="Aptos"/>
              </a:defRPr>
            </a:pPr>
            <a:r>
              <a:t>Sorted order: A → C → D → B → 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Step 2: Place Jobs in Slots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646F82"/>
                </a:solidFill>
                <a:latin typeface="Aptos"/>
              </a:defRPr>
            </a:pPr>
            <a:r>
              <a:t>Maximum deadline = 3, so create three slots.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371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646F82"/>
                </a:solidFill>
                <a:latin typeface="Aptos"/>
              </a:defRPr>
            </a:pPr>
            <a:r>
              <a:t>Initially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31720" y="1810512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39" y="2011680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1: 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10512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2011680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2: 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810512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3: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29260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9274A"/>
                </a:solidFill>
                <a:latin typeface="Aptos"/>
              </a:defRPr>
            </a:pPr>
            <a:r>
              <a:t>Schedule A (deadline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880360"/>
            <a:ext cx="62179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Place A in slot 2 (latest slot ≤ 2).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337560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39" y="35387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1: 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337560"/>
            <a:ext cx="1874519" cy="841248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59" y="35387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2: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337560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5387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3: 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29260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9274A"/>
                </a:solidFill>
                <a:latin typeface="Aptos"/>
              </a:defRPr>
            </a:pPr>
            <a:r>
              <a:t>Schedule C (deadline 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34840"/>
            <a:ext cx="676656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Slot 2 is occupied, so place C in slot 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4892040"/>
            <a:ext cx="1874519" cy="841248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77439" y="5093207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1: 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892040"/>
            <a:ext cx="1874519" cy="841248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5093207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2: 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892040"/>
            <a:ext cx="1874519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5093207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3: 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989320"/>
            <a:ext cx="10789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646F82"/>
                </a:solidFill>
                <a:latin typeface="Aptos"/>
              </a:defRPr>
            </a:pPr>
            <a:r>
              <a:t>Next, D and B have deadline 1, but slot 1 is full. E can go in slot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Final Schedule and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646F82"/>
                </a:solidFill>
                <a:latin typeface="Aptos"/>
              </a:defRPr>
            </a:pPr>
            <a:r>
              <a:t>After checking every job in sorted order: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965960"/>
            <a:ext cx="1874519" cy="841248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21671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1: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65960"/>
            <a:ext cx="1874519" cy="841248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21671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2: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965960"/>
            <a:ext cx="1874519" cy="841248"/>
          </a:xfrm>
          <a:prstGeom prst="roundRect">
            <a:avLst/>
          </a:prstGeom>
          <a:solidFill>
            <a:srgbClr val="FFF6DE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2167128"/>
            <a:ext cx="178308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Slot 3: 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138160" y="1783080"/>
          <a:ext cx="30175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Selected job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Profit</a:t>
                      </a:r>
                    </a:p>
                  </a:txBody>
                  <a:tcPr marL="109728" marT="54864" anchor="ctr">
                    <a:solidFill>
                      <a:srgbClr val="1927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15</a:t>
                      </a:r>
                    </a:p>
                  </a:txBody>
                  <a:tcPr marL="109728" marT="54864" anchor="ctr">
                    <a:solidFill>
                      <a:srgbClr val="E7EE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Total profit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272F3F"/>
                          </a:solidFill>
                          <a:latin typeface="Aptos"/>
                        </a:defRPr>
                      </a:pPr>
                      <a:r>
                        <a:t>142</a:t>
                      </a:r>
                    </a:p>
                  </a:txBody>
                  <a:tcPr marL="109728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1371600" y="3657600"/>
            <a:ext cx="6309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389888" y="3794760"/>
            <a:ext cx="64008" cy="105156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72768" y="3813048"/>
            <a:ext cx="59436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Why are D and B skipped?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251960"/>
            <a:ext cx="5943600" cy="61264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Both have deadline 1, but the only valid slot (slot 1) is already occupied by 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86400"/>
            <a:ext cx="98755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199E91"/>
                </a:solidFill>
                <a:latin typeface="Aptos"/>
              </a:defRPr>
            </a:pPr>
            <a:r>
              <a:t>Maximum profit achieved by this greedy schedule = 27 + 100 + 15 = 142.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Pseudocode and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6400800" cy="4251960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" y="1554480"/>
            <a:ext cx="64008" cy="397764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572768"/>
            <a:ext cx="60350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Greedy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11680"/>
            <a:ext cx="6035040" cy="3538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1. Sort jobs by decreasing profit.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2. Create empty slots up to the maximum deadline.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3. For each job in sorted order: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   • Check slots from its deadline backward.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   • If a free slot is found, place the job there.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   • If no slot is free, skip the job.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t>4. Add profits of all scheduled jobs.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417320"/>
            <a:ext cx="3566160" cy="1828800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53527" y="1554480"/>
            <a:ext cx="64008" cy="155448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1572768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Time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011680"/>
            <a:ext cx="3200400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Basic implementation: O(n²), where n is the number of jobs.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520440"/>
            <a:ext cx="3566160" cy="1828800"/>
          </a:xfrm>
          <a:prstGeom prst="roundRect">
            <a:avLst/>
          </a:prstGeom>
          <a:solidFill>
            <a:srgbClr val="FFF6DE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53527" y="3657600"/>
            <a:ext cx="64008" cy="1554480"/>
          </a:xfrm>
          <a:prstGeom prst="rect">
            <a:avLst/>
          </a:prstGeom>
          <a:solidFill>
            <a:srgbClr val="F2B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3675888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Space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114800"/>
            <a:ext cx="3200400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72F3F"/>
                </a:solidFill>
                <a:latin typeface="Aptos"/>
              </a:defRPr>
            </a:pPr>
            <a:r>
              <a:t>O(n) for the slot array and job storage, excluding sorting details.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9274A"/>
                </a:solidFill>
                <a:latin typeface="Aptos"/>
              </a:defRPr>
            </a:pPr>
            <a:r>
              <a:t>Applications and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05840"/>
            <a:ext cx="1051560" cy="50292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46F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1433849"/>
            <a:ext cx="5105401" cy="2141454"/>
          </a:xfrm>
          <a:prstGeom prst="roundRect">
            <a:avLst/>
          </a:prstGeom>
          <a:solidFill>
            <a:srgbClr val="E7EEFD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" y="1554480"/>
            <a:ext cx="64008" cy="1874520"/>
          </a:xfrm>
          <a:prstGeom prst="rect">
            <a:avLst/>
          </a:prstGeom>
          <a:solidFill>
            <a:srgbClr val="386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572768"/>
            <a:ext cx="470915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Where can it be used?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011680"/>
            <a:ext cx="4709159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Assigning paid tasks with deadlines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Production planning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Selecting profitable orders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CPU and resource scheduling (with suitable models)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19"/>
            <a:ext cx="5074920" cy="2157983"/>
          </a:xfrm>
          <a:prstGeom prst="roundRect">
            <a:avLst/>
          </a:prstGeom>
          <a:solidFill>
            <a:srgbClr val="E0F5F1"/>
          </a:solidFill>
          <a:ln>
            <a:solidFill>
              <a:srgbClr val="DA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1927" y="1554480"/>
            <a:ext cx="64008" cy="1874520"/>
          </a:xfrm>
          <a:prstGeom prst="rect">
            <a:avLst/>
          </a:prstGeom>
          <a:solidFill>
            <a:srgbClr val="199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572768"/>
            <a:ext cx="470915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9274A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11680"/>
            <a:ext cx="4709159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• Easy to understand and implement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• Prioritizes high-profit jobs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272F3F"/>
                </a:solidFill>
                <a:latin typeface="Aptos"/>
              </a:defRPr>
            </a:pPr>
            <a:r>
              <a:t>• Efficient for the basic unit-time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27432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2100" b="1">
                <a:solidFill>
                  <a:srgbClr val="19274A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10241280" cy="146347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 Sort jobs by profit in descending order.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 Place each job in the latest free slot before its deadline.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 If no valid slot exists, skip the job.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272F3F"/>
                </a:solidFill>
                <a:latin typeface="Aptos"/>
              </a:defRPr>
            </a:pPr>
            <a:r>
              <a:rPr dirty="0"/>
              <a:t>•  For the example, the schedule C → A → E earns total profit </a:t>
            </a:r>
            <a:r>
              <a:t>142.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867</Words>
  <Application>Microsoft Office PowerPoint</Application>
  <PresentationFormat>Widescreen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Vedanti</dc:creator>
  <cp:keywords/>
  <dc:description>generated using python-pptx</dc:description>
  <cp:lastModifiedBy>Vedanti Bhende</cp:lastModifiedBy>
  <cp:revision>3</cp:revision>
  <dcterms:created xsi:type="dcterms:W3CDTF">2013-01-27T09:14:16Z</dcterms:created>
  <dcterms:modified xsi:type="dcterms:W3CDTF">2026-10-18T12:00:45Z</dcterms:modified>
  <cp:category/>
</cp:coreProperties>
</file>